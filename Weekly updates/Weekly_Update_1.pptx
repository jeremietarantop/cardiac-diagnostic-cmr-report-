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4"/>
  </p:normalViewPr>
  <p:slideViewPr>
    <p:cSldViewPr snapToGrid="0" snapToObjects="1">
      <p:cViewPr varScale="1">
        <p:scale>
          <a:sx n="100" d="100"/>
          <a:sy n="100" d="100"/>
        </p:scale>
        <p:origin x="9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29E26-A19F-F931-18C6-012DAB3D8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90CB9F-4D8E-AD99-709A-7B4C9B9A5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AB1E7B-6C04-70B3-ACAF-8F113FD6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83F3A2-6BFD-DCA9-C96E-A7704A3D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5F39E1-AD22-E6F8-26E1-5AD471EC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52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0D7BB-88C9-F6BA-AF87-C00DD2CB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030506-1862-FB86-738C-7B69C159D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75B2EF-B04E-EDF9-29EF-130634E0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E8B4C8-FC72-1138-A35B-81C27D05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2CAAB9-92D9-A56E-3A58-4640687C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4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AF3DA7-1B6A-CBF9-EB20-31BD1AEA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7424C4-0368-59BD-2568-9D64CFEED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3C64C8-C0DC-41AF-D7EC-9EE998FF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0D61C-F8D3-6FD1-DB74-D67AE42D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CFD783-6705-D882-7E5F-C87F65723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95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F52C3-7A6A-9BA5-94D9-F6F3B672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B36CF5-CB26-B7F6-4C2F-72C75FE40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43AB4A-648E-817C-5A19-61221F227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F7A5D1-613A-21A0-EA9F-F2D3F346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49514C-CD64-D566-6879-C43ED4E6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C9CEBA-285D-1455-07F3-12E13A13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7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17180-00C2-3EC6-24BD-08A44339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0EFDF8-65FF-5547-7CA8-D62C6CB2E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A17D67-E408-8279-6F1B-29192D295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F0329E-812A-5265-BCF1-5707467CC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C884CC-B178-11F4-4A0E-0F27EA9EC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EF9AC89-9827-B182-AD7E-E3E05D2D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118C8AC-EFE3-1B25-0C43-740B4C32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0956A1-4156-AC7A-2128-51C06ED4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62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15CE8-CAAD-40F3-89C4-690E238D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B74C78-B7B9-3E66-E4F9-6620313F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4C6AC9-C057-8F35-709B-F67ABC69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D27151-82CE-94A6-1FC8-B64982F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48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449952F-13B1-9C55-0790-DC37055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DD02D5-B094-1235-12FD-2DA77DBB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22B79A-9DA7-202E-FCC3-8799406B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24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C5F90A-5B06-2E16-1D37-C503199A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C6E1E-65DF-D74D-C980-2DEFC2D5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D97E86-9179-D3DE-003F-2F3F4FD20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029CA2-60F3-284F-6249-93701E19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B0D40D-3192-FC42-48B3-5B8BAE16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25D1BE-0D8F-1894-8FC8-75F002C7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3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0151D-C9D5-0512-47E7-F2424767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706275-91B2-64D4-ADC5-40BA09CB5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1A9E1B-348F-FD1D-2044-F1ECEC917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F35331-0ABF-88F7-FD8D-768CECDC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C69984-F71E-1AD4-6D12-350A0725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F80A09-EE8A-722D-719E-286BA5DA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73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1DEE5-DAE2-93C0-76BD-16987D27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3F974A-1254-3959-AA5B-2E542CA5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33F8FD-D9BC-93FA-D5F2-0EB3DE87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872BA0-4DF2-6C2D-022D-6B20286E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99D452-7C25-543F-B315-74A39546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148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74C4059-E80D-BA5D-7682-B21730C8C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3BABED-8E5A-21CF-E8CE-0D3C4D922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2BA236-F4C7-9886-274A-456F7C49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FCC387-EE8B-1D31-11B6-2EEA09E5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0DD61A-4F57-3A96-06CE-AF7F9865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6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4CB6FB6-6022-77A3-92AB-2D08B066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56AFDB-C834-9451-5D60-CC6E22B8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300B56-956C-CDDF-FD6C-7DD65C75F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0525E-DA16-394B-B41F-EB474FC289A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E01825-78CF-0EE5-F54D-11C68D7E6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E34471-AB76-A556-5D90-17D0B49A7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8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3.04945" TargetMode="External"/><Relationship Id="rId2" Type="http://schemas.openxmlformats.org/officeDocument/2006/relationships/hyperlink" Target="https://www.journalofcmr.com/article/S1097-6647%2824%2901555-2/fulltext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Comparing%20the%20performance%20of%20artificial%20intelligence%20and%20conventional%20diagnosis%20criteria%20for%20detecting%20left%20ventricular%20hypertrophy%20using%20electrocardiography" TargetMode="External"/><Relationship Id="rId4" Type="http://schemas.openxmlformats.org/officeDocument/2006/relationships/hyperlink" Target="Deep%20Learning%20to%20Predict%20Cardiac%20Magnetic%20Resonance-Derived%20Left%20Ventricular%20Mass%20and%20Hypertrophy%20from%2012-Lead%20Electrocardiogram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AA0D20-126A-7A84-EBBB-63AFB264E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Update 01/28/26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19F21A-5298-087D-7924-FFB3E6291C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ECG to CMR report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lang="fr-FR" dirty="0"/>
              <a:t>I </a:t>
            </a:r>
            <a:r>
              <a:rPr lang="fr-FR" dirty="0" err="1"/>
              <a:t>did</a:t>
            </a:r>
            <a:r>
              <a:rPr lang="fr-FR" dirty="0"/>
              <a:t> </a:t>
            </a:r>
            <a:r>
              <a:rPr dirty="0"/>
              <a:t>last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Defined a precise research problem and end to end pipeline</a:t>
            </a:r>
          </a:p>
          <a:p>
            <a:r>
              <a:rPr dirty="0"/>
              <a:t>Reviewed literature and gaps</a:t>
            </a:r>
          </a:p>
          <a:p>
            <a:r>
              <a:rPr dirty="0"/>
              <a:t>Completed ethics training and applied to UK Biobank</a:t>
            </a:r>
          </a:p>
          <a:p>
            <a:r>
              <a:rPr dirty="0"/>
              <a:t>Built a first PTB baseline model using PCLR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099800" cy="1143000"/>
          </a:xfrm>
        </p:spPr>
        <p:txBody>
          <a:bodyPr/>
          <a:lstStyle/>
          <a:p>
            <a:r>
              <a:rPr lang="fr-FR" dirty="0" err="1"/>
              <a:t>Defining</a:t>
            </a:r>
            <a:r>
              <a:rPr lang="fr-FR" dirty="0"/>
              <a:t> a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</a:t>
            </a:r>
            <a:r>
              <a:rPr lang="fr-FR" dirty="0" err="1"/>
              <a:t>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756900" cy="4525963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Can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build</a:t>
            </a:r>
            <a:r>
              <a:rPr lang="fr-FR" dirty="0"/>
              <a:t> a model </a:t>
            </a:r>
            <a:r>
              <a:rPr lang="fr-FR" dirty="0" err="1"/>
              <a:t>that</a:t>
            </a:r>
            <a:r>
              <a:rPr lang="fr-FR" dirty="0"/>
              <a:t> uses </a:t>
            </a:r>
            <a:r>
              <a:rPr lang="fr-FR" dirty="0" err="1"/>
              <a:t>electrocardiogram</a:t>
            </a:r>
            <a:r>
              <a:rPr lang="fr-FR" dirty="0"/>
              <a:t> (ECG) data to </a:t>
            </a:r>
            <a:r>
              <a:rPr lang="fr-FR" dirty="0" err="1"/>
              <a:t>infer</a:t>
            </a:r>
            <a:r>
              <a:rPr lang="fr-FR" dirty="0"/>
              <a:t> </a:t>
            </a:r>
            <a:r>
              <a:rPr lang="fr-FR" dirty="0" err="1"/>
              <a:t>clinically</a:t>
            </a:r>
            <a:r>
              <a:rPr lang="fr-FR" dirty="0"/>
              <a:t> </a:t>
            </a:r>
            <a:r>
              <a:rPr lang="fr-FR" dirty="0" err="1"/>
              <a:t>meaningful</a:t>
            </a:r>
            <a:r>
              <a:rPr lang="fr-FR" dirty="0"/>
              <a:t> </a:t>
            </a:r>
            <a:r>
              <a:rPr lang="fr-FR" dirty="0" err="1"/>
              <a:t>cardiac</a:t>
            </a:r>
            <a:r>
              <a:rPr lang="fr-FR" dirty="0"/>
              <a:t> </a:t>
            </a:r>
            <a:r>
              <a:rPr lang="fr-FR" dirty="0" err="1"/>
              <a:t>magnetic</a:t>
            </a:r>
            <a:r>
              <a:rPr lang="fr-FR" dirty="0"/>
              <a:t> </a:t>
            </a:r>
            <a:r>
              <a:rPr lang="fr-FR" dirty="0" err="1"/>
              <a:t>resonance</a:t>
            </a:r>
            <a:r>
              <a:rPr lang="fr-FR" dirty="0"/>
              <a:t> (CMR) </a:t>
            </a:r>
            <a:r>
              <a:rPr lang="fr-FR" dirty="0" err="1"/>
              <a:t>metrics</a:t>
            </a:r>
            <a:r>
              <a:rPr lang="fr-FR" dirty="0"/>
              <a:t> and </a:t>
            </a:r>
            <a:r>
              <a:rPr lang="fr-FR" dirty="0" err="1"/>
              <a:t>generate</a:t>
            </a:r>
            <a:r>
              <a:rPr lang="fr-FR" dirty="0"/>
              <a:t> a </a:t>
            </a:r>
            <a:r>
              <a:rPr lang="fr-FR" dirty="0" err="1"/>
              <a:t>coherent</a:t>
            </a:r>
            <a:r>
              <a:rPr lang="fr-FR" dirty="0"/>
              <a:t> </a:t>
            </a:r>
            <a:r>
              <a:rPr lang="fr-FR" dirty="0" err="1"/>
              <a:t>clinical</a:t>
            </a:r>
            <a:r>
              <a:rPr lang="fr-FR" dirty="0"/>
              <a:t> style report?</a:t>
            </a:r>
          </a:p>
          <a:p>
            <a:endParaRPr lang="fr-FR" dirty="0"/>
          </a:p>
          <a:p>
            <a:r>
              <a:rPr lang="fr-FR" dirty="0"/>
              <a:t>Input: 12 lead </a:t>
            </a:r>
            <a:r>
              <a:rPr lang="fr-FR" dirty="0" err="1"/>
              <a:t>ECGs</a:t>
            </a:r>
            <a:r>
              <a:rPr lang="fr-FR" dirty="0"/>
              <a:t> (PTB, </a:t>
            </a:r>
            <a:r>
              <a:rPr lang="fr-FR" dirty="0" err="1"/>
              <a:t>Mimic</a:t>
            </a:r>
            <a:r>
              <a:rPr lang="fr-FR" dirty="0"/>
              <a:t> IV, </a:t>
            </a:r>
            <a:r>
              <a:rPr lang="fr-FR" dirty="0" err="1"/>
              <a:t>proprietary</a:t>
            </a:r>
            <a:r>
              <a:rPr lang="fr-FR" dirty="0"/>
              <a:t>) </a:t>
            </a:r>
          </a:p>
          <a:p>
            <a:r>
              <a:rPr lang="fr-FR" dirty="0"/>
              <a:t>Outputs: </a:t>
            </a:r>
          </a:p>
          <a:p>
            <a:pPr lvl="1"/>
            <a:r>
              <a:rPr lang="fr-FR" dirty="0"/>
              <a:t>LVH</a:t>
            </a:r>
          </a:p>
          <a:p>
            <a:pPr lvl="1"/>
            <a:r>
              <a:rPr lang="fr-FR" dirty="0"/>
              <a:t>LVEF</a:t>
            </a:r>
          </a:p>
          <a:p>
            <a:pPr lvl="1"/>
            <a:r>
              <a:rPr lang="fr-FR" dirty="0" err="1"/>
              <a:t>Scar</a:t>
            </a:r>
            <a:r>
              <a:rPr lang="fr-FR" dirty="0"/>
              <a:t> </a:t>
            </a:r>
            <a:r>
              <a:rPr lang="fr-FR" dirty="0" err="1"/>
              <a:t>presence</a:t>
            </a:r>
            <a:endParaRPr lang="fr-FR" dirty="0"/>
          </a:p>
          <a:p>
            <a:pPr lvl="1"/>
            <a:r>
              <a:rPr lang="fr-FR" dirty="0"/>
              <a:t>CMR style report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ECG slides from PTB, MIMIC IV, UK Biobank, or proprietary data</a:t>
            </a:r>
          </a:p>
          <a:p>
            <a:r>
              <a:t>Fine tuned PCLR encoder</a:t>
            </a:r>
          </a:p>
          <a:p>
            <a:r>
              <a:t>Prediction of LVEF, LVH, and scar presence</a:t>
            </a:r>
          </a:p>
          <a:p>
            <a:r>
              <a:t>Report generation with MedGemma or Llama</a:t>
            </a:r>
          </a:p>
          <a:p>
            <a:r>
              <a:t>Evaluation with LLMs and classic text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Primary: LLM as judge using </a:t>
            </a:r>
            <a:r>
              <a:rPr dirty="0" err="1"/>
              <a:t>MedGemma</a:t>
            </a:r>
            <a:r>
              <a:rPr dirty="0"/>
              <a:t> or Llama</a:t>
            </a:r>
          </a:p>
          <a:p>
            <a:r>
              <a:rPr dirty="0"/>
              <a:t>Embedding based metrics such as </a:t>
            </a:r>
            <a:r>
              <a:rPr dirty="0" err="1"/>
              <a:t>BERTScore</a:t>
            </a:r>
            <a:endParaRPr lang="fr-FR" dirty="0"/>
          </a:p>
          <a:p>
            <a:r>
              <a:rPr dirty="0"/>
              <a:t>Secondary: ROUGE, BLEU, METEOR for publication</a:t>
            </a:r>
            <a:endParaRPr lang="fr-FR" dirty="0"/>
          </a:p>
          <a:p>
            <a:r>
              <a:rPr lang="fr-FR" dirty="0" err="1"/>
              <a:t>Cardiologists</a:t>
            </a:r>
            <a:r>
              <a:rPr lang="fr-FR" dirty="0"/>
              <a:t> feedback!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023600" cy="4525963"/>
          </a:xfrm>
        </p:spPr>
        <p:txBody>
          <a:bodyPr/>
          <a:lstStyle/>
          <a:p>
            <a:r>
              <a:rPr dirty="0"/>
              <a:t>No prior work combines ECG to CMR metrics with report generation</a:t>
            </a:r>
            <a:endParaRPr lang="fr-FR" dirty="0"/>
          </a:p>
          <a:p>
            <a:endParaRPr dirty="0"/>
          </a:p>
          <a:p>
            <a:r>
              <a:rPr dirty="0"/>
              <a:t>CMR to CMR reports</a:t>
            </a:r>
            <a:r>
              <a:rPr lang="fr-FR" dirty="0"/>
              <a:t> : </a:t>
            </a:r>
            <a:r>
              <a:rPr lang="en-US" sz="1600" b="1" u="sng" dirty="0">
                <a:hlinkClick r:id="rId2"/>
              </a:rPr>
              <a:t>Autoregressive report generation for cardiac magnetic resonance imaging</a:t>
            </a:r>
            <a:endParaRPr sz="1600" dirty="0"/>
          </a:p>
          <a:p>
            <a:r>
              <a:rPr dirty="0"/>
              <a:t>ECG to ECG reports</a:t>
            </a:r>
            <a:r>
              <a:rPr lang="fr-FR" dirty="0"/>
              <a:t>: </a:t>
            </a:r>
            <a:r>
              <a:rPr lang="en-US" sz="1600" b="1" u="sng" dirty="0">
                <a:hlinkClick r:id="rId3"/>
              </a:rPr>
              <a:t>MEIT: Multimodal Electrocardiogram Instruction Tuning on Large Language Models for Report Generation</a:t>
            </a:r>
            <a:endParaRPr lang="en-US" sz="1600" b="1" u="sng" dirty="0"/>
          </a:p>
          <a:p>
            <a:r>
              <a:rPr lang="fr-FR" dirty="0"/>
              <a:t>ECG to CMR </a:t>
            </a:r>
            <a:r>
              <a:rPr lang="fr-FR" dirty="0" err="1"/>
              <a:t>metrics</a:t>
            </a:r>
            <a:r>
              <a:rPr lang="fr-FR" dirty="0"/>
              <a:t>: </a:t>
            </a:r>
            <a:r>
              <a:rPr lang="fr-FR" sz="1600" b="1" dirty="0">
                <a:hlinkClick r:id="rId4"/>
              </a:rPr>
              <a:t>LVH_n°1</a:t>
            </a:r>
            <a:r>
              <a:rPr lang="fr-FR" sz="1600" b="1" dirty="0"/>
              <a:t>, </a:t>
            </a:r>
            <a:r>
              <a:rPr lang="fr-FR" sz="1600" b="1" dirty="0">
                <a:hlinkClick r:id="rId5"/>
              </a:rPr>
              <a:t>LVH_n°2</a:t>
            </a:r>
            <a:endParaRPr lang="fr-FR" sz="1600" b="1" dirty="0"/>
          </a:p>
          <a:p>
            <a:endParaRPr lang="fr-FR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388600" cy="4525963"/>
          </a:xfrm>
        </p:spPr>
        <p:txBody>
          <a:bodyPr/>
          <a:lstStyle/>
          <a:p>
            <a:r>
              <a:rPr dirty="0"/>
              <a:t>PTB: easy access, 12 lead ECG,</a:t>
            </a:r>
          </a:p>
          <a:p>
            <a:r>
              <a:rPr dirty="0"/>
              <a:t>MIMIC IV: ECGs and ECG reports, requires approval</a:t>
            </a:r>
          </a:p>
          <a:p>
            <a:r>
              <a:rPr dirty="0"/>
              <a:t>UK Biobank: application required, potential fees, no CMR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PTB </a:t>
            </a:r>
            <a:r>
              <a:rPr lang="fr-FR" dirty="0" err="1"/>
              <a:t>Dataset</a:t>
            </a:r>
            <a:r>
              <a:rPr lang="fr-FR" dirty="0"/>
              <a:t>: </a:t>
            </a:r>
            <a:r>
              <a:rPr dirty="0"/>
              <a:t>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 regression: 50 of 50 records</a:t>
            </a:r>
          </a:p>
          <a:p>
            <a:r>
              <a:rPr dirty="0"/>
              <a:t>Sex classification: 50 of 50 records</a:t>
            </a:r>
          </a:p>
          <a:p>
            <a:r>
              <a:rPr dirty="0"/>
              <a:t>SCP diagnostic codes: multi label, 50 of 50</a:t>
            </a:r>
          </a:p>
          <a:p>
            <a:r>
              <a:rPr dirty="0"/>
              <a:t>Weight regression: 41 of 50 records</a:t>
            </a:r>
          </a:p>
          <a:p>
            <a:r>
              <a:rPr dirty="0"/>
              <a:t>Heart axis classification: 15 of 50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UK Biobank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ethics test</a:t>
            </a:r>
          </a:p>
          <a:p>
            <a:r>
              <a:t>Submitted UK Biobank application</a:t>
            </a:r>
          </a:p>
          <a:p>
            <a:r>
              <a:t>Await clarification on accessible data and pricing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input (CMU call)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 with CMU PhD student William</a:t>
            </a:r>
          </a:p>
          <a:p>
            <a:r>
              <a:t>Generating CMR reports from ECG appears feasible</a:t>
            </a:r>
          </a:p>
          <a:p>
            <a:r>
              <a:t>ViT based ECG encoders are now commonly preferred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model: PTB + PCLR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Goal: become familiar with PCLR</a:t>
            </a:r>
          </a:p>
          <a:p>
            <a:r>
              <a:rPr dirty="0"/>
              <a:t>Input: PTB ECGs (50 records)</a:t>
            </a:r>
          </a:p>
          <a:p>
            <a:r>
              <a:rPr dirty="0"/>
              <a:t>Tasks: age regression and sex classification</a:t>
            </a:r>
          </a:p>
          <a:p>
            <a:r>
              <a:rPr dirty="0"/>
              <a:t>Initial results look promising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MIMIC IV encoding and prediction tasks</a:t>
            </a:r>
          </a:p>
          <a:p>
            <a:r>
              <a:t>Assess UK Biobank content and cost</a:t>
            </a:r>
          </a:p>
          <a:p>
            <a:r>
              <a:t>Advance work on proprietary dataset</a:t>
            </a:r>
          </a:p>
          <a:p>
            <a:r>
              <a:t>Investigate synthetic data generation</a:t>
            </a:r>
          </a:p>
          <a:p>
            <a:r>
              <a:t>Compare PCLR with ViT based encoders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411</Words>
  <Application>Microsoft Macintosh PowerPoint</Application>
  <PresentationFormat>Personnalisé</PresentationFormat>
  <Paragraphs>62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Thème Office</vt:lpstr>
      <vt:lpstr>Weekly Update 01/28/26</vt:lpstr>
      <vt:lpstr>What I did last week</vt:lpstr>
      <vt:lpstr>Defining a clear Research Problem</vt:lpstr>
      <vt:lpstr>Proposed pipeline</vt:lpstr>
      <vt:lpstr>Evaluation plan</vt:lpstr>
      <vt:lpstr>Literature review</vt:lpstr>
      <vt:lpstr>Databases overview</vt:lpstr>
      <vt:lpstr>PTB Dataset: labels</vt:lpstr>
      <vt:lpstr>UK Biobank</vt:lpstr>
      <vt:lpstr>External input (CMU call)</vt:lpstr>
      <vt:lpstr>First model: PTB + PCLR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Jérémie Taranto (Student at CentraleSupelec)</cp:lastModifiedBy>
  <cp:revision>2</cp:revision>
  <dcterms:created xsi:type="dcterms:W3CDTF">2013-01-27T09:14:16Z</dcterms:created>
  <dcterms:modified xsi:type="dcterms:W3CDTF">2026-01-26T14:17:31Z</dcterms:modified>
  <cp:category/>
</cp:coreProperties>
</file>