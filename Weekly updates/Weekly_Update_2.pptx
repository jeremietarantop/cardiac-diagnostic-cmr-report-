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9" r:id="rId2"/>
    <p:sldId id="257" r:id="rId3"/>
    <p:sldId id="258" r:id="rId4"/>
    <p:sldId id="259" r:id="rId5"/>
    <p:sldId id="260" r:id="rId6"/>
    <p:sldId id="268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5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513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26DD-1912-DF36-16A6-032ABDC7A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6D7E3-CDD6-0AAD-AC58-244379DDC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B9F93-1C4B-1F63-2BC9-2375BC600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E9646-0364-3BAE-6DBE-20B67B1E9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51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429E26-A19F-F931-18C6-012DAB3D8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90CB9F-4D8E-AD99-709A-7B4C9B9A5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799"/>
            </a:lvl1pPr>
            <a:lvl2pPr marL="342797" indent="0" algn="ctr">
              <a:buNone/>
              <a:defRPr sz="1499"/>
            </a:lvl2pPr>
            <a:lvl3pPr marL="685595" indent="0" algn="ctr">
              <a:buNone/>
              <a:defRPr sz="1349"/>
            </a:lvl3pPr>
            <a:lvl4pPr marL="1028392" indent="0" algn="ctr">
              <a:buNone/>
              <a:defRPr sz="1200"/>
            </a:lvl4pPr>
            <a:lvl5pPr marL="1371188" indent="0" algn="ctr">
              <a:buNone/>
              <a:defRPr sz="1200"/>
            </a:lvl5pPr>
            <a:lvl6pPr marL="1713986" indent="0" algn="ctr">
              <a:buNone/>
              <a:defRPr sz="1200"/>
            </a:lvl6pPr>
            <a:lvl7pPr marL="2056783" indent="0" algn="ctr">
              <a:buNone/>
              <a:defRPr sz="1200"/>
            </a:lvl7pPr>
            <a:lvl8pPr marL="2399580" indent="0" algn="ctr">
              <a:buNone/>
              <a:defRPr sz="1200"/>
            </a:lvl8pPr>
            <a:lvl9pPr marL="2742377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AB1E7B-6C04-70B3-ACAF-8F113FD6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525E-DA16-394B-B41F-EB474FC289AF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83F3A2-6BFD-DCA9-C96E-A7704A3D4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5F39E1-AD22-E6F8-26E1-5AD471EC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01592-6096-AD44-A2C7-05F0868FF47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89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AA0D20-126A-7A84-EBBB-63AFB264E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551329"/>
            <a:ext cx="7540322" cy="2196353"/>
          </a:xfrm>
        </p:spPr>
        <p:txBody>
          <a:bodyPr anchor="b">
            <a:normAutofit/>
          </a:bodyPr>
          <a:lstStyle/>
          <a:p>
            <a:pPr algn="l"/>
            <a:r>
              <a:rPr lang="en-US" sz="3600">
                <a:solidFill>
                  <a:srgbClr val="FFFFFF"/>
                </a:solidFill>
              </a:rPr>
              <a:t>Weekly Update 02/02/26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519F21A-5298-087D-7924-FFB3E6291C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3653118"/>
            <a:ext cx="7504463" cy="1093693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ECG to CMR report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Did This Week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2926080"/>
          </a:xfrm>
          <a:prstGeom prst="rect">
            <a:avLst/>
          </a:prstGeom>
          <a:solidFill>
            <a:srgbClr val="F5F9FC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8872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New Function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Input: </a:t>
            </a:r>
            <a:r>
              <a:rPr lang="en-US" sz="1400" dirty="0">
                <a:solidFill>
                  <a:srgbClr val="333333"/>
                </a:solidFill>
              </a:rPr>
              <a:t>ECG reports + ECG signal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Output: </a:t>
            </a:r>
            <a:r>
              <a:rPr lang="en-US" sz="1400" dirty="0">
                <a:solidFill>
                  <a:srgbClr val="333333"/>
                </a:solidFill>
              </a:rPr>
              <a:t>CMR reports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</a:rPr>
              <a:t>Uses TinyLlama model for baseline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Goal: </a:t>
            </a:r>
            <a:r>
              <a:rPr lang="en-US" sz="1300" dirty="0">
                <a:solidFill>
                  <a:srgbClr val="555555"/>
                </a:solidFill>
              </a:rPr>
              <a:t>Simple baseline + familiarize with LLMs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289304"/>
            <a:ext cx="3931920" cy="2926080"/>
          </a:xfrm>
          <a:prstGeom prst="rect">
            <a:avLst/>
          </a:prstGeom>
          <a:solidFill>
            <a:srgbClr val="F5F9FC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Relevant Paper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Discovered paper using LLMs as evaluation tools for medical report generation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</a:rPr>
              <a:t>Key insight: Multiple LLM evaluation is cited as a major strength by reviewers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</a:rPr>
              <a:t>Details on next slide 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 Recap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Define Research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Defined ECG to CMR report generation task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0" cy="365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Literature Review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52766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CMR-CMR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ECG-ECG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ECG-CMR metrics (LVH)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2651759"/>
            <a:ext cx="0" cy="583475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23523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23523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23523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Model Creation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50955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Built PCLR model on PTB-XL dataset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3692434"/>
            <a:ext cx="0" cy="3657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405819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05819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405819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Baseline Function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33251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ECG→CMR translation using TinyLlama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</a:rPr>
              <a:t>✓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30352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03520" y="2743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Two functional models created with working baseline for LLM-based report generation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7111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Function: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ECG to CMR Translation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33432"/>
            <a:ext cx="237744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3343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INPUT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ECG Data from PTB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17520" y="1799192"/>
            <a:ext cx="731520" cy="365760"/>
          </a:xfrm>
          <a:prstGeom prst="rightArrow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931920" y="1433432"/>
            <a:ext cx="237744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0" y="1433432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PROCESS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+ </a:t>
            </a:r>
            <a:r>
              <a:rPr lang="en-US" sz="1600" b="1" dirty="0" err="1">
                <a:solidFill>
                  <a:srgbClr val="1E2761"/>
                </a:solidFill>
              </a:rPr>
              <a:t>TinyLlama</a:t>
            </a:r>
            <a:r>
              <a:rPr lang="en-US" sz="1600" b="1" dirty="0">
                <a:solidFill>
                  <a:srgbClr val="1E2761"/>
                </a:solidFill>
              </a:rPr>
              <a:t> LLM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799192"/>
            <a:ext cx="731520" cy="365760"/>
          </a:xfrm>
          <a:prstGeom prst="rightArrow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06640" y="1433432"/>
            <a:ext cx="1280160" cy="109728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06640" y="1433432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OUTPUT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CMR Report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Implementation Details: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703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Processes one PTB file at a 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977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Loads metadata (age, sex)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251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Retrieves min, max, and mean of each of 12 leads</a:t>
            </a:r>
            <a:endParaRPr lang="en-US" sz="14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2CE9331-1FFC-EA78-E851-FBAF76F4D61C}"/>
              </a:ext>
            </a:extLst>
          </p:cNvPr>
          <p:cNvSpPr txBox="1"/>
          <p:nvPr/>
        </p:nvSpPr>
        <p:spPr>
          <a:xfrm>
            <a:off x="3840480" y="2542401"/>
            <a:ext cx="2651760" cy="795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fr-FR" sz="1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prompt = </a:t>
            </a:r>
            <a:r>
              <a:rPr lang="fr-FR" sz="10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f"""You</a:t>
            </a:r>
            <a:r>
              <a:rPr lang="fr-FR" sz="1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a </a:t>
            </a:r>
            <a:r>
              <a:rPr lang="fr-FR" sz="10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cardiac</a:t>
            </a:r>
            <a:r>
              <a:rPr lang="fr-FR" sz="1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0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imaging</a:t>
            </a:r>
            <a:r>
              <a:rPr lang="fr-FR" sz="1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expert. </a:t>
            </a:r>
            <a:r>
              <a:rPr lang="fr-FR" sz="10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fr-FR" sz="1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fr-FR" sz="10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fr-FR" sz="1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ECG data (</a:t>
            </a:r>
            <a:r>
              <a:rPr lang="fr-FR" sz="10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fr-FR" sz="1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signal), </a:t>
            </a:r>
            <a:r>
              <a:rPr lang="fr-FR" sz="10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fr-FR" sz="1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short CMR (</a:t>
            </a:r>
            <a:r>
              <a:rPr lang="fr-FR" sz="10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Cardiac</a:t>
            </a:r>
            <a:r>
              <a:rPr lang="fr-FR" sz="1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Magnetic </a:t>
            </a:r>
            <a:r>
              <a:rPr lang="fr-FR" sz="10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Resonance</a:t>
            </a:r>
            <a:r>
              <a:rPr lang="fr-FR" sz="1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style report</a:t>
            </a:r>
            <a:r>
              <a:rPr lang="fr-FR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000" b="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7901E767-1E61-E7CE-FE4B-ADA6A6209B15}"/>
              </a:ext>
            </a:extLst>
          </p:cNvPr>
          <p:cNvSpPr/>
          <p:nvPr/>
        </p:nvSpPr>
        <p:spPr>
          <a:xfrm>
            <a:off x="5102352" y="3703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•</a:t>
            </a:r>
            <a:endParaRPr lang="en-US" sz="16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065ABDAE-8434-2975-CAB9-569ADF089C60}"/>
              </a:ext>
            </a:extLst>
          </p:cNvPr>
          <p:cNvSpPr/>
          <p:nvPr/>
        </p:nvSpPr>
        <p:spPr>
          <a:xfrm>
            <a:off x="5376672" y="3703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Uses TinyLlama-1.1B from Hugging Face</a:t>
            </a:r>
            <a:endParaRPr lang="en-US" sz="14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F4748D24-47A8-9C67-CE25-223B582342E9}"/>
              </a:ext>
            </a:extLst>
          </p:cNvPr>
          <p:cNvSpPr/>
          <p:nvPr/>
        </p:nvSpPr>
        <p:spPr>
          <a:xfrm>
            <a:off x="5102352" y="39776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•</a:t>
            </a:r>
            <a:endParaRPr lang="en-US" sz="1600" dirty="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A0F90594-155C-B8DD-1D6D-0ECE327C617A}"/>
              </a:ext>
            </a:extLst>
          </p:cNvPr>
          <p:cNvSpPr/>
          <p:nvPr/>
        </p:nvSpPr>
        <p:spPr>
          <a:xfrm>
            <a:off x="5376672" y="3977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Prompts model as cardiac imaging expert </a:t>
            </a:r>
            <a:endParaRPr lang="en-US" sz="1400" dirty="0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A2BC7758-E95B-F726-4C0A-F3EDE2EF6DCE}"/>
              </a:ext>
            </a:extLst>
          </p:cNvPr>
          <p:cNvSpPr/>
          <p:nvPr/>
        </p:nvSpPr>
        <p:spPr>
          <a:xfrm>
            <a:off x="5102352" y="4251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•</a:t>
            </a:r>
            <a:endParaRPr lang="en-US" sz="1600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8DD1143C-E10A-EFF4-30A1-2E9178CC4E56}"/>
              </a:ext>
            </a:extLst>
          </p:cNvPr>
          <p:cNvSpPr/>
          <p:nvPr/>
        </p:nvSpPr>
        <p:spPr>
          <a:xfrm>
            <a:off x="5376672" y="4251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Generate ”CMR style” report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Paper: LLMs as Evaluation Tools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61872"/>
            <a:ext cx="8229600" cy="9144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5346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MEIT: Multimodal Electrocardiogram Instruction Tuning on Large Language Models for Report Generation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7408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Published: ACL 2025 (Submitted to ICLR) | Date: July 2025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59152"/>
            <a:ext cx="393192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45A8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5420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🔑 Reviewers liked it!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9992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</a:rPr>
              <a:t>LLM evaluation mentioned as one of the paper top 3 strengths by reviewers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7307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FFFFFF"/>
                </a:solidFill>
              </a:rPr>
              <a:t>OpenReview</a:t>
            </a:r>
            <a:r>
              <a:rPr lang="en-US" sz="1400" i="1" dirty="0">
                <a:solidFill>
                  <a:srgbClr val="FFFFFF"/>
                </a:solidFill>
              </a:rPr>
              <a:t>: </a:t>
            </a:r>
            <a:r>
              <a:rPr lang="en-US" sz="1400" i="1" dirty="0" err="1">
                <a:solidFill>
                  <a:srgbClr val="FFFFFF"/>
                </a:solidFill>
              </a:rPr>
              <a:t>openreview.net</a:t>
            </a:r>
            <a:r>
              <a:rPr lang="en-US" sz="1400" i="1" dirty="0">
                <a:solidFill>
                  <a:srgbClr val="FFFFFF"/>
                </a:solidFill>
              </a:rPr>
              <a:t>/</a:t>
            </a:r>
            <a:r>
              <a:rPr lang="en-US" sz="1400" i="1" dirty="0" err="1">
                <a:solidFill>
                  <a:srgbClr val="FFFFFF"/>
                </a:solidFill>
              </a:rPr>
              <a:t>forum?id</a:t>
            </a:r>
            <a:r>
              <a:rPr lang="en-US" sz="1400" i="1" dirty="0">
                <a:solidFill>
                  <a:srgbClr val="FFFFFF"/>
                </a:solidFill>
              </a:rPr>
              <a:t>=vFfVXSP24J</a:t>
            </a:r>
          </a:p>
        </p:txBody>
      </p:sp>
      <p:sp>
        <p:nvSpPr>
          <p:cNvPr id="10" name="Shape 8"/>
          <p:cNvSpPr/>
          <p:nvPr/>
        </p:nvSpPr>
        <p:spPr>
          <a:xfrm>
            <a:off x="4754880" y="2359152"/>
            <a:ext cx="3931920" cy="2011680"/>
          </a:xfrm>
          <a:prstGeom prst="rect">
            <a:avLst/>
          </a:prstGeom>
          <a:solidFill>
            <a:srgbClr val="F5F9FC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25420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💡 Relevance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29992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Validates approach of using multiple LLMs for quality assessment in ECG-to-report generation tasks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7307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Links: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40050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arXiv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arxiv.org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/pdf/2403.04945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8F111-3FA4-6350-2409-9F5AC084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9C0762B-17F3-F0B5-CB57-0D2794FCE889}"/>
              </a:ext>
            </a:extLst>
          </p:cNvPr>
          <p:cNvSpPr/>
          <p:nvPr/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 steps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B0E3532-3AB2-F9C6-1D8F-B6CEF9369256}"/>
              </a:ext>
            </a:extLst>
          </p:cNvPr>
          <p:cNvSpPr txBox="1"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Align with Kathryn regarding task distribution and responsibilities</a:t>
            </a:r>
          </a:p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Try with a bigger model (llama 8b)?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Use common metrics to </a:t>
            </a:r>
            <a:r>
              <a:rPr lang="en-US" sz="2000" dirty="0" err="1"/>
              <a:t>scorre</a:t>
            </a:r>
            <a:r>
              <a:rPr lang="en-US" sz="2000" dirty="0"/>
              <a:t> this first model?</a:t>
            </a:r>
          </a:p>
        </p:txBody>
      </p:sp>
    </p:spTree>
    <p:extLst>
      <p:ext uri="{BB962C8B-B14F-4D97-AF65-F5344CB8AC3E}">
        <p14:creationId xmlns:p14="http://schemas.microsoft.com/office/powerpoint/2010/main" val="1791056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356</Words>
  <Application>Microsoft Macintosh PowerPoint</Application>
  <PresentationFormat>Affichage à l'écran (16:9)</PresentationFormat>
  <Paragraphs>75</Paragraphs>
  <Slides>6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Times New Roman</vt:lpstr>
      <vt:lpstr>Office Theme</vt:lpstr>
      <vt:lpstr>Weekly Update 02/02/26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ECG to CMR Research</dc:creator>
  <cp:lastModifiedBy>Jérémie Taranto (Student at CentraleSupelec)</cp:lastModifiedBy>
  <cp:revision>2</cp:revision>
  <dcterms:created xsi:type="dcterms:W3CDTF">2026-02-02T20:48:42Z</dcterms:created>
  <dcterms:modified xsi:type="dcterms:W3CDTF">2026-02-02T21:56:17Z</dcterms:modified>
</cp:coreProperties>
</file>